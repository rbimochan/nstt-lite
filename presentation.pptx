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Bimochan Raj Kunwar. This is my ST7088CEM Artificial Neural Networks project: auditing a published Nepali speech recognition model, and then repairing it. There's a public Nepali ASR model on Hugging Face that claims a 5.97% word error rate — remarkably good for a low-resource language. I wanted to find out: does that number actually hold up on real, diverse speech? Spoiler — it doesn't, by a lot. Let me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model was benchmarked on OpenSLR-43 — a dataset recorded by a single female speaker. That's the problem: a benchmark on one voice tells you almost nothing about how the model handles different speakers, accents, or recording conditions. This is a common issue in low-resource ASR research generally, not just this one model. So I framed two research questions: RQ1 — does the published claim survive contact with genuinely diverse speech? RQ2 — if not, can I repair the model by fine-tuning it, and is any improvement genuine or just a measurement artefact?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model architecture — XLS-R, a wav2vec2 variant. Raw audio goes through a convolutional feature encoder — seven conv layers that turn the waveform into a sequence of latent frames. That feeds a 24-layer transformer encoder, which builds contextualised representations using self-attention. Finally a linear layer plus a CTC head produces per-frame character probabilities, decoded into Devanagari text.
The important part for this project: I kept the CNN feature encoder frozen the whole time — in both the zero-shot audit and the fine-tuning. When I fine-tune, I only update the transformer encoder and the CTC head, using the CTC loss. I also keep the checkpoint's own vocabulary — I'm repairing this exact model, not training a new one or swapping in a different architecture like Whisper, which I actually considered and dropped early on, because changing architecture would confound the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I reproduced the published number in-domain and got 4.91% WER — actually slightly better, so the claim technically holds on its own data. Then I ran the exact same checkpoint, zero-shot, on OpenSLR-54 — a completely different, multi-speaker Nepali corpus, 160 speakers. WER jumped to 62.30%. That's a twelve-fold degradation. So RQ1's answer is no — the published number does not describe real-world, multi-speaker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I fine-tuned that same checkpoint on a 15-hour, 160-speaker, speaker-disjoint subset of OpenSLR-54 — meaning zero speaker overlap between train, validation, and test. Out-of-domain WER fell from 62.30% to 38.17% — a 39% relative improvement. I'm also honest about the cost: in-domain WER rose from 4.91% to 16.40%, because the model is now adapted toward diverse speech rather than that one original speaker. That's an expected specialisation trade-off, not a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part I think matters most methodologically. I trained a second model, identical setup, identical budget — but on a leaky split, where each speaker's utterances are scattered randomly across train, validation, and test instead of being kept separate. That leaky model scored 32.55% — better than the properly disjoint model's 38.17%. But that's not a real improvement — it's leakage. The leaky test set isn't truly unseen, because the model has already partially learned those speakers' voices during training. This confirms that if I — or anyone else — evaluates without controlling for speaker overlap, the reported number is inflated. It's the same failure mode that produced the original misleading 5.97% benchmark, just demonstrated at a smaller scale on my own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piece: I also benchmarked deployment efficiency. Dynamic INT8 quantization shrank the model by 96% — from about 1.2GB to 48.5MB. But it was actually 1.64 times slower on this Apple Silicon hardware, not faster, because the fast quantized kernels aren't available outside x86. I'm reporting that honestly rather than only showing the size win — a deployment optimisation that looks good on paper doesn't automatically transfer to every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RQ1 — the published 5.97% claim does not generalise to diverse speakers, degrading to 62.30% WER. RQ2 — yes, fine-tuning genuinely repairs a large share of that gap, down to 38.17%, and the speaker-leakage ablation confirms that improvement is real, not a measurement artefact. Everything here — code, MLflow experiment logs, data manifests, and the full report — is public on GitHub, link on screen and in the description. Thanks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pic>
        <p:nvPicPr>
          <p:cNvPr id="2" name="Image 0" descr="/Users/bimochankunwar/Desktop/NSTT-Lite/appendix_screenshots/softwarica_coventry_logo.png">    </p:cNvPr>
          <p:cNvPicPr>
            <a:picLocks noChangeAspect="1"/>
          </p:cNvPicPr>
          <p:nvPr/>
        </p:nvPicPr>
        <p:blipFill>
          <a:blip r:embed="rId1"/>
          <a:stretch>
            <a:fillRect/>
          </a:stretch>
        </p:blipFill>
        <p:spPr>
          <a:xfrm>
            <a:off x="3794760" y="502920"/>
            <a:ext cx="4572000" cy="1271016"/>
          </a:xfrm>
          <a:prstGeom prst="rect">
            <a:avLst/>
          </a:prstGeom>
        </p:spPr>
      </p:pic>
      <p:sp>
        <p:nvSpPr>
          <p:cNvPr id="3" name="Text 0"/>
          <p:cNvSpPr/>
          <p:nvPr/>
        </p:nvSpPr>
        <p:spPr>
          <a:xfrm>
            <a:off x="731520" y="2514600"/>
            <a:ext cx="10698480" cy="1188720"/>
          </a:xfrm>
          <a:prstGeom prst="rect">
            <a:avLst/>
          </a:prstGeom>
          <a:noFill/>
          <a:ln/>
        </p:spPr>
        <p:txBody>
          <a:bodyPr wrap="square"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Auditing and Repairing a Published Nepali ASR Model</a:t>
            </a:r>
            <a:endParaRPr lang="en-US" sz="3200" dirty="0"/>
          </a:p>
        </p:txBody>
      </p:sp>
      <p:sp>
        <p:nvSpPr>
          <p:cNvPr id="4" name="Text 1"/>
          <p:cNvSpPr/>
          <p:nvPr/>
        </p:nvSpPr>
        <p:spPr>
          <a:xfrm>
            <a:off x="731520" y="3611880"/>
            <a:ext cx="10698480" cy="548640"/>
          </a:xfrm>
          <a:prstGeom prst="rect">
            <a:avLst/>
          </a:prstGeom>
          <a:noFill/>
          <a:ln/>
        </p:spPr>
        <p:txBody>
          <a:bodyPr wrap="square" rtlCol="0" anchor="ctr"/>
          <a:lstStyle/>
          <a:p>
            <a:pPr algn="ctr" indent="0" marL="0">
              <a:buNone/>
            </a:pPr>
            <a:r>
              <a:rPr lang="en-US" sz="1800" i="1" dirty="0">
                <a:solidFill>
                  <a:srgbClr val="CADCFC"/>
                </a:solidFill>
                <a:latin typeface="Calibri" pitchFamily="34" charset="0"/>
                <a:ea typeface="Calibri" pitchFamily="34" charset="-122"/>
                <a:cs typeface="Calibri" pitchFamily="34" charset="-120"/>
              </a:rPr>
              <a:t>A Speaker-Diversity Case Study on XLS-R</a:t>
            </a:r>
            <a:endParaRPr lang="en-US" sz="1800" dirty="0"/>
          </a:p>
        </p:txBody>
      </p:sp>
      <p:sp>
        <p:nvSpPr>
          <p:cNvPr id="5" name="Text 2"/>
          <p:cNvSpPr/>
          <p:nvPr/>
        </p:nvSpPr>
        <p:spPr>
          <a:xfrm>
            <a:off x="731520" y="4617720"/>
            <a:ext cx="10698480" cy="1188720"/>
          </a:xfrm>
          <a:prstGeom prst="rect">
            <a:avLst/>
          </a:prstGeom>
          <a:noFill/>
          <a:ln/>
        </p:spPr>
        <p:txBody>
          <a:bodyPr wrap="square" rtlCol="0" anchor="t"/>
          <a:lstStyle/>
          <a:p>
            <a:pPr algn="ctr" indent="0" marL="0">
              <a:lnSpc>
                <a:spcPct val="130000"/>
              </a:lnSpc>
              <a:buNone/>
            </a:pPr>
            <a:r>
              <a:rPr lang="en-US" sz="1400" b="1" dirty="0">
                <a:solidFill>
                  <a:srgbClr val="FFFFFF"/>
                </a:solidFill>
                <a:latin typeface="Calibri" pitchFamily="34" charset="0"/>
                <a:ea typeface="Calibri" pitchFamily="34" charset="-122"/>
                <a:cs typeface="Calibri" pitchFamily="34" charset="-120"/>
              </a:rPr>
              <a:t>ST7088CEM — Artificial Neural Networks</a:t>
            </a:r>
            <a:endParaRPr lang="en-US" sz="1400" dirty="0"/>
          </a:p>
          <a:p>
            <a:pPr algn="ctr" indent="0" marL="0">
              <a:lnSpc>
                <a:spcPct val="130000"/>
              </a:lnSpc>
              <a:buNone/>
            </a:pPr>
            <a:r>
              <a:rPr lang="en-US" sz="1400" dirty="0">
                <a:solidFill>
                  <a:srgbClr val="FFFFFF"/>
                </a:solidFill>
                <a:latin typeface="Calibri" pitchFamily="34" charset="0"/>
                <a:ea typeface="Calibri" pitchFamily="34" charset="-122"/>
                <a:cs typeface="Calibri" pitchFamily="34" charset="-120"/>
              </a:rPr>
              <a:t>Bimochan Raj Kunwar   |   Coventry ID: 17108924</a:t>
            </a:r>
            <a:endParaRPr lang="en-US" sz="1400" dirty="0"/>
          </a:p>
          <a:p>
            <a:pPr algn="ctr" indent="0" marL="0">
              <a:lnSpc>
                <a:spcPct val="130000"/>
              </a:lnSpc>
              <a:buNone/>
            </a:pPr>
            <a:r>
              <a:rPr lang="en-US" sz="1400" dirty="0">
                <a:solidFill>
                  <a:srgbClr val="FFFFFF"/>
                </a:solidFill>
                <a:latin typeface="Calibri" pitchFamily="34" charset="0"/>
                <a:ea typeface="Calibri" pitchFamily="34" charset="-122"/>
                <a:cs typeface="Calibri" pitchFamily="34" charset="-120"/>
              </a:rPr>
              <a:t>MSc7-S2   |   Softwarica College of IT &amp; E-Commerce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772400" cy="731520"/>
          </a:xfrm>
          <a:prstGeom prst="rect">
            <a:avLst/>
          </a:prstGeom>
          <a:noFill/>
          <a:ln/>
        </p:spPr>
        <p:txBody>
          <a:bodyPr wrap="square" rtlCol="0" anchor="ctr"/>
          <a:lstStyle/>
          <a:p>
            <a:pPr indent="0" marL="0">
              <a:buNone/>
            </a:pPr>
            <a:r>
              <a:rPr lang="en-US" sz="3000" b="1" dirty="0">
                <a:solidFill>
                  <a:srgbClr val="16233F"/>
                </a:solidFill>
                <a:latin typeface="Cambria" pitchFamily="34" charset="0"/>
                <a:ea typeface="Cambria" pitchFamily="34" charset="-122"/>
                <a:cs typeface="Cambria" pitchFamily="34" charset="-120"/>
              </a:rPr>
              <a:t>The Problem</a:t>
            </a:r>
            <a:endParaRPr lang="en-US" sz="3000" dirty="0"/>
          </a:p>
        </p:txBody>
      </p:sp>
      <p:sp>
        <p:nvSpPr>
          <p:cNvPr id="3" name="Text 1"/>
          <p:cNvSpPr/>
          <p:nvPr/>
        </p:nvSpPr>
        <p:spPr>
          <a:xfrm>
            <a:off x="548640" y="1051560"/>
            <a:ext cx="10058400" cy="457200"/>
          </a:xfrm>
          <a:prstGeom prst="rect">
            <a:avLst/>
          </a:prstGeom>
          <a:noFill/>
          <a:ln/>
        </p:spPr>
        <p:txBody>
          <a:bodyPr wrap="square" rtlCol="0" anchor="ctr"/>
          <a:lstStyle/>
          <a:p>
            <a:pPr indent="0" marL="0">
              <a:buNone/>
            </a:pPr>
            <a:r>
              <a:rPr lang="en-US" sz="1400" i="1" dirty="0">
                <a:solidFill>
                  <a:srgbClr val="5B6472"/>
                </a:solidFill>
                <a:latin typeface="Calibri" pitchFamily="34" charset="0"/>
                <a:ea typeface="Calibri" pitchFamily="34" charset="-122"/>
                <a:cs typeface="Calibri" pitchFamily="34" charset="-120"/>
              </a:rPr>
              <a:t>A single-speaker benchmark, cited as general-purpose quality</a:t>
            </a:r>
            <a:endParaRPr lang="en-US" sz="1400" dirty="0"/>
          </a:p>
        </p:txBody>
      </p:sp>
      <p:sp>
        <p:nvSpPr>
          <p:cNvPr id="4" name="Shape 2"/>
          <p:cNvSpPr/>
          <p:nvPr/>
        </p:nvSpPr>
        <p:spPr>
          <a:xfrm>
            <a:off x="548640" y="1783080"/>
            <a:ext cx="5120640" cy="4206240"/>
          </a:xfrm>
          <a:prstGeom prst="roundRect">
            <a:avLst>
              <a:gd name="adj" fmla="val 2609"/>
            </a:avLst>
          </a:prstGeom>
          <a:solidFill>
            <a:srgbClr val="F4F7FC"/>
          </a:solidFill>
          <a:ln w="12700">
            <a:solidFill>
              <a:srgbClr val="CADCFC"/>
            </a:solidFill>
            <a:prstDash val="solid"/>
          </a:ln>
        </p:spPr>
      </p:sp>
      <p:sp>
        <p:nvSpPr>
          <p:cNvPr id="5" name="Text 3"/>
          <p:cNvSpPr/>
          <p:nvPr/>
        </p:nvSpPr>
        <p:spPr>
          <a:xfrm>
            <a:off x="822960" y="2011680"/>
            <a:ext cx="4572000" cy="457200"/>
          </a:xfrm>
          <a:prstGeom prst="rect">
            <a:avLst/>
          </a:prstGeom>
          <a:noFill/>
          <a:ln/>
        </p:spPr>
        <p:txBody>
          <a:bodyPr wrap="square" rtlCol="0" anchor="ctr"/>
          <a:lstStyle/>
          <a:p>
            <a:pPr indent="0" marL="0">
              <a:buNone/>
            </a:pPr>
            <a:r>
              <a:rPr lang="en-US" sz="1300" b="1" dirty="0">
                <a:solidFill>
                  <a:srgbClr val="16233F"/>
                </a:solidFill>
                <a:latin typeface="Courier New" pitchFamily="34" charset="0"/>
                <a:ea typeface="Courier New" pitchFamily="34" charset="-122"/>
                <a:cs typeface="Courier New" pitchFamily="34" charset="-120"/>
              </a:rPr>
              <a:t>gagan3012/wav2vec2-xlsr-nepali</a:t>
            </a:r>
            <a:endParaRPr lang="en-US" sz="1300" dirty="0"/>
          </a:p>
        </p:txBody>
      </p:sp>
      <p:sp>
        <p:nvSpPr>
          <p:cNvPr id="6" name="Text 4"/>
          <p:cNvSpPr/>
          <p:nvPr/>
        </p:nvSpPr>
        <p:spPr>
          <a:xfrm>
            <a:off x="822960" y="2514600"/>
            <a:ext cx="4572000" cy="640080"/>
          </a:xfrm>
          <a:prstGeom prst="rect">
            <a:avLst/>
          </a:prstGeom>
          <a:noFill/>
          <a:ln/>
        </p:spPr>
        <p:txBody>
          <a:bodyPr wrap="square" rtlCol="0" anchor="ctr"/>
          <a:lstStyle/>
          <a:p>
            <a:pPr indent="0" marL="0">
              <a:buNone/>
            </a:pPr>
            <a:r>
              <a:rPr lang="en-US" sz="1250" dirty="0">
                <a:solidFill>
                  <a:srgbClr val="5B6472"/>
                </a:solidFill>
                <a:latin typeface="Calibri" pitchFamily="34" charset="0"/>
                <a:ea typeface="Calibri" pitchFamily="34" charset="-122"/>
                <a:cs typeface="Calibri" pitchFamily="34" charset="-120"/>
              </a:rPr>
              <a:t>Published Hugging Face XLS-R (wav2vec2)</a:t>
            </a:r>
            <a:endParaRPr lang="en-US" sz="1250" dirty="0"/>
          </a:p>
          <a:p>
            <a:pPr indent="0" marL="0">
              <a:buNone/>
            </a:pPr>
            <a:r>
              <a:rPr lang="en-US" sz="1250" dirty="0">
                <a:solidFill>
                  <a:srgbClr val="5B6472"/>
                </a:solidFill>
                <a:latin typeface="Calibri" pitchFamily="34" charset="0"/>
                <a:ea typeface="Calibri" pitchFamily="34" charset="-122"/>
                <a:cs typeface="Calibri" pitchFamily="34" charset="-120"/>
              </a:rPr>
              <a:t>checkpoint for Nepali ASR</a:t>
            </a:r>
            <a:endParaRPr lang="en-US" sz="1250" dirty="0"/>
          </a:p>
        </p:txBody>
      </p:sp>
      <p:sp>
        <p:nvSpPr>
          <p:cNvPr id="7" name="Text 5"/>
          <p:cNvSpPr/>
          <p:nvPr/>
        </p:nvSpPr>
        <p:spPr>
          <a:xfrm>
            <a:off x="822960" y="3246120"/>
            <a:ext cx="4572000" cy="1188720"/>
          </a:xfrm>
          <a:prstGeom prst="rect">
            <a:avLst/>
          </a:prstGeom>
          <a:noFill/>
          <a:ln/>
        </p:spPr>
        <p:txBody>
          <a:bodyPr wrap="square" rtlCol="0" anchor="ctr"/>
          <a:lstStyle/>
          <a:p>
            <a:pPr algn="ctr" indent="0" marL="0">
              <a:buNone/>
            </a:pPr>
            <a:r>
              <a:rPr lang="en-US" sz="6600" b="1" dirty="0">
                <a:solidFill>
                  <a:srgbClr val="B9770E"/>
                </a:solidFill>
                <a:latin typeface="Cambria" pitchFamily="34" charset="0"/>
                <a:ea typeface="Cambria" pitchFamily="34" charset="-122"/>
                <a:cs typeface="Cambria" pitchFamily="34" charset="-120"/>
              </a:rPr>
              <a:t>5.97%</a:t>
            </a:r>
            <a:endParaRPr lang="en-US" sz="6600" dirty="0"/>
          </a:p>
        </p:txBody>
      </p:sp>
      <p:sp>
        <p:nvSpPr>
          <p:cNvPr id="8" name="Text 6"/>
          <p:cNvSpPr/>
          <p:nvPr/>
        </p:nvSpPr>
        <p:spPr>
          <a:xfrm>
            <a:off x="822960" y="4343400"/>
            <a:ext cx="4572000" cy="365760"/>
          </a:xfrm>
          <a:prstGeom prst="rect">
            <a:avLst/>
          </a:prstGeom>
          <a:noFill/>
          <a:ln/>
        </p:spPr>
        <p:txBody>
          <a:bodyPr wrap="square" rtlCol="0" anchor="ctr"/>
          <a:lstStyle/>
          <a:p>
            <a:pPr algn="ctr" indent="0" marL="0">
              <a:buNone/>
            </a:pPr>
            <a:r>
              <a:rPr lang="en-US" sz="1300" dirty="0">
                <a:solidFill>
                  <a:srgbClr val="5B6472"/>
                </a:solidFill>
                <a:latin typeface="Calibri" pitchFamily="34" charset="0"/>
                <a:ea typeface="Calibri" pitchFamily="34" charset="-122"/>
                <a:cs typeface="Calibri" pitchFamily="34" charset="-120"/>
              </a:rPr>
              <a:t>self-reported Word Error Rate (WER)</a:t>
            </a:r>
            <a:endParaRPr lang="en-US" sz="1300" dirty="0"/>
          </a:p>
        </p:txBody>
      </p:sp>
      <p:sp>
        <p:nvSpPr>
          <p:cNvPr id="9" name="Text 7"/>
          <p:cNvSpPr/>
          <p:nvPr/>
        </p:nvSpPr>
        <p:spPr>
          <a:xfrm>
            <a:off x="822960" y="4892040"/>
            <a:ext cx="4572000" cy="822960"/>
          </a:xfrm>
          <a:prstGeom prst="rect">
            <a:avLst/>
          </a:prstGeom>
          <a:noFill/>
          <a:ln/>
        </p:spPr>
        <p:txBody>
          <a:bodyPr wrap="square" rtlCol="0" anchor="t"/>
          <a:lstStyle/>
          <a:p>
            <a:pPr algn="ctr" indent="0" marL="0">
              <a:buNone/>
            </a:pPr>
            <a:r>
              <a:rPr lang="en-US" sz="1250" i="1" dirty="0">
                <a:solidFill>
                  <a:srgbClr val="16233F"/>
                </a:solidFill>
                <a:latin typeface="Calibri" pitchFamily="34" charset="0"/>
                <a:ea typeface="Calibri" pitchFamily="34" charset="-122"/>
                <a:cs typeface="Calibri" pitchFamily="34" charset="-120"/>
              </a:rPr>
              <a:t>measured on OpenSLR-43 — a single female speaker's read-speech corpus</a:t>
            </a:r>
            <a:endParaRPr lang="en-US" sz="1250" dirty="0"/>
          </a:p>
        </p:txBody>
      </p:sp>
      <p:sp>
        <p:nvSpPr>
          <p:cNvPr id="10" name="Text 8"/>
          <p:cNvSpPr/>
          <p:nvPr/>
        </p:nvSpPr>
        <p:spPr>
          <a:xfrm>
            <a:off x="6035040" y="1783080"/>
            <a:ext cx="5577840" cy="457200"/>
          </a:xfrm>
          <a:prstGeom prst="rect">
            <a:avLst/>
          </a:prstGeom>
          <a:noFill/>
          <a:ln/>
        </p:spPr>
        <p:txBody>
          <a:bodyPr wrap="square" rtlCol="0" anchor="ctr"/>
          <a:lstStyle/>
          <a:p>
            <a:pPr indent="0" marL="0">
              <a:buNone/>
            </a:pPr>
            <a:r>
              <a:rPr lang="en-US" sz="1600" b="1" dirty="0">
                <a:solidFill>
                  <a:srgbClr val="16233F"/>
                </a:solidFill>
                <a:latin typeface="Calibri" pitchFamily="34" charset="0"/>
                <a:ea typeface="Calibri" pitchFamily="34" charset="-122"/>
                <a:cs typeface="Calibri" pitchFamily="34" charset="-120"/>
              </a:rPr>
              <a:t>Two Research Questions</a:t>
            </a:r>
            <a:endParaRPr lang="en-US" sz="1600" dirty="0"/>
          </a:p>
        </p:txBody>
      </p:sp>
      <p:sp>
        <p:nvSpPr>
          <p:cNvPr id="11" name="Shape 9"/>
          <p:cNvSpPr/>
          <p:nvPr/>
        </p:nvSpPr>
        <p:spPr>
          <a:xfrm>
            <a:off x="6035040" y="2331720"/>
            <a:ext cx="5577840" cy="1691640"/>
          </a:xfrm>
          <a:prstGeom prst="roundRect">
            <a:avLst>
              <a:gd name="adj" fmla="val 5405"/>
            </a:avLst>
          </a:prstGeom>
          <a:solidFill>
            <a:srgbClr val="1E2761"/>
          </a:solidFill>
          <a:ln w="12700">
            <a:solidFill>
              <a:srgbClr val="1E2761"/>
            </a:solidFill>
            <a:prstDash val="solid"/>
          </a:ln>
        </p:spPr>
      </p:sp>
      <p:sp>
        <p:nvSpPr>
          <p:cNvPr id="12" name="Text 10"/>
          <p:cNvSpPr/>
          <p:nvPr/>
        </p:nvSpPr>
        <p:spPr>
          <a:xfrm>
            <a:off x="6309360" y="2514600"/>
            <a:ext cx="5029200" cy="1371600"/>
          </a:xfrm>
          <a:prstGeom prst="rect">
            <a:avLst/>
          </a:prstGeom>
          <a:noFill/>
          <a:ln/>
        </p:spPr>
        <p:txBody>
          <a:bodyPr wrap="square" rtlCol="0" anchor="t"/>
          <a:lstStyle/>
          <a:p>
            <a:pPr indent="0" marL="0">
              <a:buNone/>
            </a:pPr>
            <a:r>
              <a:rPr lang="en-US" sz="1500" b="1" dirty="0">
                <a:solidFill>
                  <a:srgbClr val="CADCFC"/>
                </a:solidFill>
                <a:latin typeface="Calibri" pitchFamily="34" charset="0"/>
                <a:ea typeface="Calibri" pitchFamily="34" charset="-122"/>
                <a:cs typeface="Calibri" pitchFamily="34" charset="-120"/>
              </a:rPr>
              <a:t>RQ1  </a:t>
            </a:r>
            <a:pPr indent="0" marL="0">
              <a:buNone/>
            </a:pPr>
            <a:r>
              <a:rPr lang="en-US" sz="1300" b="1" dirty="0">
                <a:solidFill>
                  <a:srgbClr val="FFFFFF"/>
                </a:solidFill>
                <a:latin typeface="Calibri" pitchFamily="34" charset="0"/>
                <a:ea typeface="Calibri" pitchFamily="34" charset="-122"/>
                <a:cs typeface="Calibri" pitchFamily="34" charset="-120"/>
              </a:rPr>
              <a:t>(Benchmark Audit)
</a:t>
            </a:r>
            <a:endParaRPr lang="en-US" sz="1500" dirty="0"/>
          </a:p>
          <a:p>
            <a:pPr indent="0" marL="0">
              <a:buNone/>
            </a:pPr>
            <a:r>
              <a:rPr lang="en-US" sz="1250" dirty="0">
                <a:solidFill>
                  <a:srgbClr val="FFFFFF"/>
                </a:solidFill>
                <a:latin typeface="Calibri" pitchFamily="34" charset="0"/>
                <a:ea typeface="Calibri" pitchFamily="34" charset="-122"/>
                <a:cs typeface="Calibri" pitchFamily="34" charset="-120"/>
              </a:rPr>
              <a:t>Does the published claim survive contact with genuinely diverse, multi-speaker speech?</a:t>
            </a:r>
            <a:endParaRPr lang="en-US" sz="1500" dirty="0"/>
          </a:p>
        </p:txBody>
      </p:sp>
      <p:sp>
        <p:nvSpPr>
          <p:cNvPr id="13" name="Shape 11"/>
          <p:cNvSpPr/>
          <p:nvPr/>
        </p:nvSpPr>
        <p:spPr>
          <a:xfrm>
            <a:off x="6035040" y="4160520"/>
            <a:ext cx="5577840" cy="1828800"/>
          </a:xfrm>
          <a:prstGeom prst="roundRect">
            <a:avLst>
              <a:gd name="adj" fmla="val 5000"/>
            </a:avLst>
          </a:prstGeom>
          <a:solidFill>
            <a:srgbClr val="B9770E"/>
          </a:solidFill>
          <a:ln w="12700">
            <a:solidFill>
              <a:srgbClr val="B9770E"/>
            </a:solidFill>
            <a:prstDash val="solid"/>
          </a:ln>
        </p:spPr>
      </p:sp>
      <p:sp>
        <p:nvSpPr>
          <p:cNvPr id="14" name="Text 12"/>
          <p:cNvSpPr/>
          <p:nvPr/>
        </p:nvSpPr>
        <p:spPr>
          <a:xfrm>
            <a:off x="6309360" y="4343400"/>
            <a:ext cx="5029200" cy="1554480"/>
          </a:xfrm>
          <a:prstGeom prst="rect">
            <a:avLst/>
          </a:prstGeom>
          <a:noFill/>
          <a:ln/>
        </p:spPr>
        <p:txBody>
          <a:bodyPr wrap="square" rtlCol="0" anchor="t"/>
          <a:lstStyle/>
          <a:p>
            <a:pPr indent="0" marL="0">
              <a:buNone/>
            </a:pPr>
            <a:r>
              <a:rPr lang="en-US" sz="1500" b="1" dirty="0">
                <a:solidFill>
                  <a:srgbClr val="3A2400"/>
                </a:solidFill>
                <a:latin typeface="Calibri" pitchFamily="34" charset="0"/>
                <a:ea typeface="Calibri" pitchFamily="34" charset="-122"/>
                <a:cs typeface="Calibri" pitchFamily="34" charset="-120"/>
              </a:rPr>
              <a:t>RQ2  </a:t>
            </a:r>
            <a:pPr indent="0" marL="0">
              <a:buNone/>
            </a:pPr>
            <a:r>
              <a:rPr lang="en-US" sz="1300" b="1" dirty="0">
                <a:solidFill>
                  <a:srgbClr val="FFFFFF"/>
                </a:solidFill>
                <a:latin typeface="Calibri" pitchFamily="34" charset="0"/>
                <a:ea typeface="Calibri" pitchFamily="34" charset="-122"/>
                <a:cs typeface="Calibri" pitchFamily="34" charset="-120"/>
              </a:rPr>
              <a:t>(Fine-tuning Repair)
</a:t>
            </a:r>
            <a:endParaRPr lang="en-US" sz="1500" dirty="0"/>
          </a:p>
          <a:p>
            <a:pPr indent="0" marL="0">
              <a:buNone/>
            </a:pPr>
            <a:r>
              <a:rPr lang="en-US" sz="1250" dirty="0">
                <a:solidFill>
                  <a:srgbClr val="FFFFFF"/>
                </a:solidFill>
                <a:latin typeface="Calibri" pitchFamily="34" charset="0"/>
                <a:ea typeface="Calibri" pitchFamily="34" charset="-122"/>
                <a:cs typeface="Calibri" pitchFamily="34" charset="-120"/>
              </a:rPr>
              <a:t>If not, can fine-tuning repair it — and is the improvement genuine, or an artefact of evaluation leakage?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a:ln/>
        </p:spPr>
        <p:txBody>
          <a:bodyPr wrap="square" rtlCol="0" anchor="ctr"/>
          <a:lstStyle/>
          <a:p>
            <a:pPr indent="0" marL="0">
              <a:buNone/>
            </a:pPr>
            <a:r>
              <a:rPr lang="en-US" sz="2600" b="1" dirty="0">
                <a:solidFill>
                  <a:srgbClr val="16233F"/>
                </a:solidFill>
                <a:latin typeface="Cambria" pitchFamily="34" charset="0"/>
                <a:ea typeface="Cambria" pitchFamily="34" charset="-122"/>
                <a:cs typeface="Cambria" pitchFamily="34" charset="-120"/>
              </a:rPr>
              <a:t>Model Architecture — XLS-R (wav2vec2)</a:t>
            </a:r>
            <a:endParaRPr lang="en-US" sz="2600" dirty="0"/>
          </a:p>
        </p:txBody>
      </p:sp>
      <p:sp>
        <p:nvSpPr>
          <p:cNvPr id="3" name="Text 1"/>
          <p:cNvSpPr/>
          <p:nvPr/>
        </p:nvSpPr>
        <p:spPr>
          <a:xfrm>
            <a:off x="548640" y="896112"/>
            <a:ext cx="11064240" cy="411480"/>
          </a:xfrm>
          <a:prstGeom prst="rect">
            <a:avLst/>
          </a:prstGeom>
          <a:noFill/>
          <a:ln/>
        </p:spPr>
        <p:txBody>
          <a:bodyPr wrap="square" rtlCol="0" anchor="ctr"/>
          <a:lstStyle/>
          <a:p>
            <a:pPr indent="0" marL="0">
              <a:buNone/>
            </a:pPr>
            <a:r>
              <a:rPr lang="en-US" sz="1300" i="1" dirty="0">
                <a:solidFill>
                  <a:srgbClr val="5B6472"/>
                </a:solidFill>
                <a:latin typeface="Calibri" pitchFamily="34" charset="0"/>
                <a:ea typeface="Calibri" pitchFamily="34" charset="-122"/>
                <a:cs typeface="Calibri" pitchFamily="34" charset="-120"/>
              </a:rPr>
              <a:t>Frozen convolutional encoder — fine-tuned transformer encoder + CTC head</a:t>
            </a:r>
            <a:endParaRPr lang="en-US" sz="1300" dirty="0"/>
          </a:p>
        </p:txBody>
      </p:sp>
      <p:pic>
        <p:nvPicPr>
          <p:cNvPr id="4" name="Image 0" descr="/Users/bimochankunwar/Desktop/NSTT-Lite/appendix_screenshots/figure1_architecture.png">    </p:cNvPr>
          <p:cNvPicPr>
            <a:picLocks noChangeAspect="1"/>
          </p:cNvPicPr>
          <p:nvPr/>
        </p:nvPicPr>
        <p:blipFill>
          <a:blip r:embed="rId1"/>
          <a:srcRect l="0" r="0" t="0" b="0"/>
          <a:stretch/>
        </p:blipFill>
        <p:spPr>
          <a:xfrm>
            <a:off x="4160520" y="1234440"/>
            <a:ext cx="4206240" cy="550468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2800" b="1" dirty="0">
                <a:solidFill>
                  <a:srgbClr val="16233F"/>
                </a:solidFill>
                <a:latin typeface="Cambria" pitchFamily="34" charset="0"/>
                <a:ea typeface="Cambria" pitchFamily="34" charset="-122"/>
                <a:cs typeface="Cambria" pitchFamily="34" charset="-120"/>
              </a:rPr>
              <a:t>Task 1 — Benchmark Audit</a:t>
            </a:r>
            <a:endParaRPr lang="en-US" sz="2800" dirty="0"/>
          </a:p>
        </p:txBody>
      </p:sp>
      <p:sp>
        <p:nvSpPr>
          <p:cNvPr id="3" name="Text 1"/>
          <p:cNvSpPr/>
          <p:nvPr/>
        </p:nvSpPr>
        <p:spPr>
          <a:xfrm>
            <a:off x="548640" y="1024128"/>
            <a:ext cx="11064240" cy="457200"/>
          </a:xfrm>
          <a:prstGeom prst="rect">
            <a:avLst/>
          </a:prstGeom>
          <a:noFill/>
          <a:ln/>
        </p:spPr>
        <p:txBody>
          <a:bodyPr wrap="square" rtlCol="0" anchor="ctr"/>
          <a:lstStyle/>
          <a:p>
            <a:pPr indent="0" marL="0">
              <a:buNone/>
            </a:pPr>
            <a:r>
              <a:rPr lang="en-US" sz="1400" i="1" dirty="0">
                <a:solidFill>
                  <a:srgbClr val="5B6472"/>
                </a:solidFill>
                <a:latin typeface="Calibri" pitchFamily="34" charset="0"/>
                <a:ea typeface="Calibri" pitchFamily="34" charset="-122"/>
                <a:cs typeface="Calibri" pitchFamily="34" charset="-120"/>
              </a:rPr>
              <a:t>Zero-shot evaluation of the unmodified published checkpoint</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10515600" cy="2743200"/>
        </p:xfrm>
        <a:graphic>
          <a:graphicData uri="http://schemas.openxmlformats.org/drawingml/2006/table">
            <a:tbl>
              <a:tblPr/>
              <a:tblGrid>
                <a:gridCol w="3505200"/>
                <a:gridCol w="3505200"/>
                <a:gridCol w="3505200"/>
              </a:tblGrid>
              <a:tr h="685800">
                <a:tc>
                  <a:txBody>
                    <a:bodyPr/>
                    <a:lstStyle/>
                    <a:p>
                      <a:pPr algn="l" indent="0" marL="0">
                        <a:buNone/>
                      </a:pPr>
                      <a:r>
                        <a:rPr lang="en-US" sz="1500" b="1" dirty="0">
                          <a:solidFill>
                            <a:srgbClr val="FFFFFF"/>
                          </a:solidFill>
                        </a:rPr>
                        <a:t>Evaluation</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1E2761"/>
                    </a:solidFill>
                  </a:tcPr>
                </a:tc>
                <a:tc>
                  <a:txBody>
                    <a:bodyPr/>
                    <a:lstStyle/>
                    <a:p>
                      <a:pPr algn="ctr" indent="0" marL="0">
                        <a:buNone/>
                      </a:pPr>
                      <a:r>
                        <a:rPr lang="en-US" sz="1500" b="1" dirty="0">
                          <a:solidFill>
                            <a:srgbClr val="FFFFFF"/>
                          </a:solidFill>
                        </a:rPr>
                        <a:t>WER</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1E2761"/>
                    </a:solidFill>
                  </a:tcPr>
                </a:tc>
                <a:tc>
                  <a:txBody>
                    <a:bodyPr/>
                    <a:lstStyle/>
                    <a:p>
                      <a:pPr algn="ctr" indent="0" marL="0">
                        <a:buNone/>
                      </a:pPr>
                      <a:r>
                        <a:rPr lang="en-US" sz="1500" b="1" dirty="0">
                          <a:solidFill>
                            <a:srgbClr val="FFFFFF"/>
                          </a:solidFill>
                        </a:rPr>
                        <a:t>CER</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1E2761"/>
                    </a:solidFill>
                  </a:tcPr>
                </a:tc>
              </a:tr>
              <a:tr h="685800">
                <a:tc>
                  <a:txBody>
                    <a:bodyPr/>
                    <a:lstStyle/>
                    <a:p>
                      <a:pPr algn="l" indent="0" marL="0">
                        <a:buNone/>
                      </a:pPr>
                      <a:r>
                        <a:rPr lang="en-US" sz="1500" dirty="0">
                          <a:solidFill>
                            <a:srgbClr val="16233F"/>
                          </a:solidFill>
                        </a:rPr>
                        <a:t>Self-reported (published)</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4F7FC"/>
                    </a:solidFill>
                  </a:tcPr>
                </a:tc>
                <a:tc>
                  <a:txBody>
                    <a:bodyPr/>
                    <a:lstStyle/>
                    <a:p>
                      <a:pPr algn="ctr" indent="0" marL="0">
                        <a:buNone/>
                      </a:pPr>
                      <a:r>
                        <a:rPr lang="en-US" sz="1500" dirty="0">
                          <a:solidFill>
                            <a:srgbClr val="16233F"/>
                          </a:solidFill>
                        </a:rPr>
                        <a:t>5.97%</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4F7FC"/>
                    </a:solidFill>
                  </a:tcPr>
                </a:tc>
                <a:tc>
                  <a:txBody>
                    <a:bodyPr/>
                    <a:lstStyle/>
                    <a:p>
                      <a:pPr algn="ctr" indent="0" marL="0">
                        <a:buNone/>
                      </a:pPr>
                      <a:r>
                        <a:rPr lang="en-US" sz="1500" dirty="0">
                          <a:solidFill>
                            <a:srgbClr val="16233F"/>
                          </a:solidFill>
                        </a:rPr>
                        <a:t>—</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4F7FC"/>
                    </a:solidFill>
                  </a:tcPr>
                </a:tc>
              </a:tr>
              <a:tr h="685800">
                <a:tc>
                  <a:txBody>
                    <a:bodyPr/>
                    <a:lstStyle/>
                    <a:p>
                      <a:pPr algn="l" indent="0" marL="0">
                        <a:buNone/>
                      </a:pPr>
                      <a:r>
                        <a:rPr lang="en-US" sz="1500" dirty="0">
                          <a:solidFill>
                            <a:srgbClr val="16233F"/>
                          </a:solidFill>
                        </a:rPr>
                        <a:t>Measured, in-domain (OpenSLR-43)</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6233F"/>
                          </a:solidFill>
                        </a:rPr>
                        <a:t>4.91%</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6233F"/>
                          </a:solidFill>
                        </a:rPr>
                        <a:t>0.87%</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FFFFF"/>
                    </a:solidFill>
                  </a:tcPr>
                </a:tc>
              </a:tr>
              <a:tr h="685800">
                <a:tc>
                  <a:txBody>
                    <a:bodyPr/>
                    <a:lstStyle/>
                    <a:p>
                      <a:pPr algn="l" indent="0" marL="0">
                        <a:buNone/>
                      </a:pPr>
                      <a:r>
                        <a:rPr lang="en-US" sz="1800" b="1" dirty="0">
                          <a:solidFill>
                            <a:srgbClr val="3A2400"/>
                          </a:solidFill>
                        </a:rPr>
                        <a:t>Measured, out-of-domain (OpenSLR-54)</a:t>
                      </a:r>
                      <a:endParaRPr lang="en-US" sz="18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BD9A5"/>
                    </a:solidFill>
                  </a:tcPr>
                </a:tc>
                <a:tc>
                  <a:txBody>
                    <a:bodyPr/>
                    <a:lstStyle/>
                    <a:p>
                      <a:pPr algn="ctr" indent="0" marL="0">
                        <a:buNone/>
                      </a:pPr>
                      <a:r>
                        <a:rPr lang="en-US" sz="1800" b="1" dirty="0">
                          <a:solidFill>
                            <a:srgbClr val="3A2400"/>
                          </a:solidFill>
                        </a:rPr>
                        <a:t>62.30%</a:t>
                      </a:r>
                      <a:endParaRPr lang="en-US" sz="18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BD9A5"/>
                    </a:solidFill>
                  </a:tcPr>
                </a:tc>
                <a:tc>
                  <a:txBody>
                    <a:bodyPr/>
                    <a:lstStyle/>
                    <a:p>
                      <a:pPr algn="ctr" indent="0" marL="0">
                        <a:buNone/>
                      </a:pPr>
                      <a:r>
                        <a:rPr lang="en-US" sz="1800" b="1" dirty="0">
                          <a:solidFill>
                            <a:srgbClr val="3A2400"/>
                          </a:solidFill>
                        </a:rPr>
                        <a:t>17.38%</a:t>
                      </a:r>
                      <a:endParaRPr lang="en-US" sz="18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BD9A5"/>
                    </a:solidFill>
                  </a:tcPr>
                </a:tc>
              </a:tr>
            </a:tbl>
          </a:graphicData>
        </a:graphic>
      </p:graphicFrame>
      <p:sp>
        <p:nvSpPr>
          <p:cNvPr id="5" name="Text 2"/>
          <p:cNvSpPr/>
          <p:nvPr/>
        </p:nvSpPr>
        <p:spPr>
          <a:xfrm>
            <a:off x="822960" y="4892040"/>
            <a:ext cx="10515600" cy="1280160"/>
          </a:xfrm>
          <a:prstGeom prst="rect">
            <a:avLst/>
          </a:prstGeom>
          <a:noFill/>
          <a:ln/>
        </p:spPr>
        <p:txBody>
          <a:bodyPr wrap="square" rtlCol="0" anchor="t"/>
          <a:lstStyle/>
          <a:p>
            <a:pPr indent="0" marL="0">
              <a:buNone/>
            </a:pPr>
            <a:r>
              <a:rPr lang="en-US" sz="1350" i="1" dirty="0">
                <a:solidFill>
                  <a:srgbClr val="5B6472"/>
                </a:solidFill>
                <a:latin typeface="Calibri" pitchFamily="34" charset="0"/>
                <a:ea typeface="Calibri" pitchFamily="34" charset="-122"/>
                <a:cs typeface="Calibri" pitchFamily="34" charset="-120"/>
              </a:rPr>
              <a:t>A more than twelve-fold degradation on genuinely diverse, multi-speaker speech — the published figure does not describe real-world performance.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2800" b="1" dirty="0">
                <a:solidFill>
                  <a:srgbClr val="16233F"/>
                </a:solidFill>
                <a:latin typeface="Cambria" pitchFamily="34" charset="0"/>
                <a:ea typeface="Cambria" pitchFamily="34" charset="-122"/>
                <a:cs typeface="Cambria" pitchFamily="34" charset="-120"/>
              </a:rPr>
              <a:t>Task 2 — Fine-tuning Repair</a:t>
            </a:r>
            <a:endParaRPr lang="en-US" sz="2800" dirty="0"/>
          </a:p>
        </p:txBody>
      </p:sp>
      <p:sp>
        <p:nvSpPr>
          <p:cNvPr id="3" name="Text 1"/>
          <p:cNvSpPr/>
          <p:nvPr/>
        </p:nvSpPr>
        <p:spPr>
          <a:xfrm>
            <a:off x="548640" y="1024128"/>
            <a:ext cx="11064240" cy="457200"/>
          </a:xfrm>
          <a:prstGeom prst="rect">
            <a:avLst/>
          </a:prstGeom>
          <a:noFill/>
          <a:ln/>
        </p:spPr>
        <p:txBody>
          <a:bodyPr wrap="square" rtlCol="0" anchor="ctr"/>
          <a:lstStyle/>
          <a:p>
            <a:pPr indent="0" marL="0">
              <a:buNone/>
            </a:pPr>
            <a:r>
              <a:rPr lang="en-US" sz="1400" i="1" dirty="0">
                <a:solidFill>
                  <a:srgbClr val="5B6472"/>
                </a:solidFill>
                <a:latin typeface="Calibri" pitchFamily="34" charset="0"/>
                <a:ea typeface="Calibri" pitchFamily="34" charset="-122"/>
                <a:cs typeface="Calibri" pitchFamily="34" charset="-120"/>
              </a:rPr>
              <a:t>15-hour, 160-speaker, speaker-disjoint fine-tuning on OpenSLR-54</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10515600" cy="2057400"/>
        </p:xfrm>
        <a:graphic>
          <a:graphicData uri="http://schemas.openxmlformats.org/drawingml/2006/table">
            <a:tbl>
              <a:tblPr/>
              <a:tblGrid>
                <a:gridCol w="3505200"/>
                <a:gridCol w="3505200"/>
                <a:gridCol w="3505200"/>
              </a:tblGrid>
              <a:tr h="685800">
                <a:tc>
                  <a:txBody>
                    <a:bodyPr/>
                    <a:lstStyle/>
                    <a:p>
                      <a:pPr algn="l" indent="0" marL="0">
                        <a:buNone/>
                      </a:pPr>
                      <a:r>
                        <a:rPr lang="en-US" sz="1500" b="1" dirty="0">
                          <a:solidFill>
                            <a:srgbClr val="FFFFFF"/>
                          </a:solidFill>
                        </a:rPr>
                        <a:t>Checkpoint</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1E2761"/>
                    </a:solidFill>
                  </a:tcPr>
                </a:tc>
                <a:tc>
                  <a:txBody>
                    <a:bodyPr/>
                    <a:lstStyle/>
                    <a:p>
                      <a:pPr algn="ctr" indent="0" marL="0">
                        <a:buNone/>
                      </a:pPr>
                      <a:r>
                        <a:rPr lang="en-US" sz="1500" b="1" dirty="0">
                          <a:solidFill>
                            <a:srgbClr val="FFFFFF"/>
                          </a:solidFill>
                        </a:rPr>
                        <a:t>In-domain (SLR-43)</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1E2761"/>
                    </a:solidFill>
                  </a:tcPr>
                </a:tc>
                <a:tc>
                  <a:txBody>
                    <a:bodyPr/>
                    <a:lstStyle/>
                    <a:p>
                      <a:pPr algn="ctr" indent="0" marL="0">
                        <a:buNone/>
                      </a:pPr>
                      <a:r>
                        <a:rPr lang="en-US" sz="1500" b="1" dirty="0">
                          <a:solidFill>
                            <a:srgbClr val="FFFFFF"/>
                          </a:solidFill>
                        </a:rPr>
                        <a:t>Out-of-domain (SLR-54)</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1E2761"/>
                    </a:solidFill>
                  </a:tcPr>
                </a:tc>
              </a:tr>
              <a:tr h="685800">
                <a:tc>
                  <a:txBody>
                    <a:bodyPr/>
                    <a:lstStyle/>
                    <a:p>
                      <a:pPr algn="l" indent="0" marL="0">
                        <a:buNone/>
                      </a:pPr>
                      <a:r>
                        <a:rPr lang="en-US" sz="1500" dirty="0">
                          <a:solidFill>
                            <a:srgbClr val="16233F"/>
                          </a:solidFill>
                        </a:rPr>
                        <a:t>Original</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4F7FC"/>
                    </a:solidFill>
                  </a:tcPr>
                </a:tc>
                <a:tc>
                  <a:txBody>
                    <a:bodyPr/>
                    <a:lstStyle/>
                    <a:p>
                      <a:pPr algn="ctr" indent="0" marL="0">
                        <a:buNone/>
                      </a:pPr>
                      <a:r>
                        <a:rPr lang="en-US" sz="1500" dirty="0">
                          <a:solidFill>
                            <a:srgbClr val="16233F"/>
                          </a:solidFill>
                        </a:rPr>
                        <a:t>4.91% WER</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4F7FC"/>
                    </a:solidFill>
                  </a:tcPr>
                </a:tc>
                <a:tc>
                  <a:txBody>
                    <a:bodyPr/>
                    <a:lstStyle/>
                    <a:p>
                      <a:pPr algn="ctr" indent="0" marL="0">
                        <a:buNone/>
                      </a:pPr>
                      <a:r>
                        <a:rPr lang="en-US" sz="1500" dirty="0">
                          <a:solidFill>
                            <a:srgbClr val="16233F"/>
                          </a:solidFill>
                        </a:rPr>
                        <a:t>62.30% WER</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4F7FC"/>
                    </a:solidFill>
                  </a:tcPr>
                </a:tc>
              </a:tr>
              <a:tr h="685800">
                <a:tc>
                  <a:txBody>
                    <a:bodyPr/>
                    <a:lstStyle/>
                    <a:p>
                      <a:pPr algn="l" indent="0" marL="0">
                        <a:buNone/>
                      </a:pPr>
                      <a:r>
                        <a:rPr lang="en-US" sz="1800" b="1" dirty="0">
                          <a:solidFill>
                            <a:srgbClr val="3A2400"/>
                          </a:solidFill>
                        </a:rPr>
                        <a:t>Fine-tuned (speaker-disjoint)</a:t>
                      </a:r>
                      <a:endParaRPr lang="en-US" sz="18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BD9A5"/>
                    </a:solidFill>
                  </a:tcPr>
                </a:tc>
                <a:tc>
                  <a:txBody>
                    <a:bodyPr/>
                    <a:lstStyle/>
                    <a:p>
                      <a:pPr algn="ctr" indent="0" marL="0">
                        <a:buNone/>
                      </a:pPr>
                      <a:r>
                        <a:rPr lang="en-US" sz="1800" b="1" dirty="0">
                          <a:solidFill>
                            <a:srgbClr val="3A2400"/>
                          </a:solidFill>
                        </a:rPr>
                        <a:t>16.40% WER</a:t>
                      </a:r>
                      <a:endParaRPr lang="en-US" sz="18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BD9A5"/>
                    </a:solidFill>
                  </a:tcPr>
                </a:tc>
                <a:tc>
                  <a:txBody>
                    <a:bodyPr/>
                    <a:lstStyle/>
                    <a:p>
                      <a:pPr algn="ctr" indent="0" marL="0">
                        <a:buNone/>
                      </a:pPr>
                      <a:r>
                        <a:rPr lang="en-US" sz="1800" b="1" dirty="0">
                          <a:solidFill>
                            <a:srgbClr val="3A2400"/>
                          </a:solidFill>
                        </a:rPr>
                        <a:t>38.17% WER</a:t>
                      </a:r>
                      <a:endParaRPr lang="en-US" sz="18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BD9A5"/>
                    </a:solidFill>
                  </a:tcPr>
                </a:tc>
              </a:tr>
            </a:tbl>
          </a:graphicData>
        </a:graphic>
      </p:graphicFrame>
      <p:sp>
        <p:nvSpPr>
          <p:cNvPr id="5" name="Text 2"/>
          <p:cNvSpPr/>
          <p:nvPr/>
        </p:nvSpPr>
        <p:spPr>
          <a:xfrm>
            <a:off x="822960" y="4206240"/>
            <a:ext cx="10515600" cy="1280160"/>
          </a:xfrm>
          <a:prstGeom prst="rect">
            <a:avLst/>
          </a:prstGeom>
          <a:noFill/>
          <a:ln/>
        </p:spPr>
        <p:txBody>
          <a:bodyPr wrap="square" rtlCol="0" anchor="t"/>
          <a:lstStyle/>
          <a:p>
            <a:pPr indent="0" marL="0">
              <a:buNone/>
            </a:pPr>
            <a:r>
              <a:rPr lang="en-US" sz="1350" i="1" dirty="0">
                <a:solidFill>
                  <a:srgbClr val="5B6472"/>
                </a:solidFill>
                <a:latin typeface="Calibri" pitchFamily="34" charset="0"/>
                <a:ea typeface="Calibri" pitchFamily="34" charset="-122"/>
                <a:cs typeface="Calibri" pitchFamily="34" charset="-120"/>
              </a:rPr>
              <a:t>Out-of-domain WER falls 39% relative (62.30% → 38.17%) — at a disclosed, expected cost to in-domain performance (4.91% → 16.40%).</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2800" b="1" dirty="0">
                <a:solidFill>
                  <a:srgbClr val="16233F"/>
                </a:solidFill>
                <a:latin typeface="Cambria" pitchFamily="34" charset="0"/>
                <a:ea typeface="Cambria" pitchFamily="34" charset="-122"/>
                <a:cs typeface="Cambria" pitchFamily="34" charset="-120"/>
              </a:rPr>
              <a:t>Speaker-Leakage Ablation</a:t>
            </a:r>
            <a:endParaRPr lang="en-US" sz="2800" dirty="0"/>
          </a:p>
        </p:txBody>
      </p:sp>
      <p:sp>
        <p:nvSpPr>
          <p:cNvPr id="3" name="Text 1"/>
          <p:cNvSpPr/>
          <p:nvPr/>
        </p:nvSpPr>
        <p:spPr>
          <a:xfrm>
            <a:off x="548640" y="1024128"/>
            <a:ext cx="11064240" cy="457200"/>
          </a:xfrm>
          <a:prstGeom prst="rect">
            <a:avLst/>
          </a:prstGeom>
          <a:noFill/>
          <a:ln/>
        </p:spPr>
        <p:txBody>
          <a:bodyPr wrap="square" rtlCol="0" anchor="ctr"/>
          <a:lstStyle/>
          <a:p>
            <a:pPr indent="0" marL="0">
              <a:buNone/>
            </a:pPr>
            <a:r>
              <a:rPr lang="en-US" sz="1400" i="1" dirty="0">
                <a:solidFill>
                  <a:srgbClr val="5B6472"/>
                </a:solidFill>
                <a:latin typeface="Calibri" pitchFamily="34" charset="0"/>
                <a:ea typeface="Calibri" pitchFamily="34" charset="-122"/>
                <a:cs typeface="Calibri" pitchFamily="34" charset="-120"/>
              </a:rPr>
              <a:t>Matched-budget: speaker-disjoint split vs. leaky (utterance-random) split</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10515600" cy="2057400"/>
        </p:xfrm>
        <a:graphic>
          <a:graphicData uri="http://schemas.openxmlformats.org/drawingml/2006/table">
            <a:tbl>
              <a:tblPr/>
              <a:tblGrid>
                <a:gridCol w="3505200"/>
                <a:gridCol w="3505200"/>
                <a:gridCol w="3505200"/>
              </a:tblGrid>
              <a:tr h="685800">
                <a:tc>
                  <a:txBody>
                    <a:bodyPr/>
                    <a:lstStyle/>
                    <a:p>
                      <a:pPr algn="l" indent="0" marL="0">
                        <a:buNone/>
                      </a:pPr>
                      <a:r>
                        <a:rPr lang="en-US" sz="1500" b="1" dirty="0">
                          <a:solidFill>
                            <a:srgbClr val="FFFFFF"/>
                          </a:solidFill>
                        </a:rPr>
                        <a:t>Checkpoint</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1E2761"/>
                    </a:solidFill>
                  </a:tcPr>
                </a:tc>
                <a:tc>
                  <a:txBody>
                    <a:bodyPr/>
                    <a:lstStyle/>
                    <a:p>
                      <a:pPr algn="ctr" indent="0" marL="0">
                        <a:buNone/>
                      </a:pPr>
                      <a:r>
                        <a:rPr lang="en-US" sz="1500" b="1" dirty="0">
                          <a:solidFill>
                            <a:srgbClr val="FFFFFF"/>
                          </a:solidFill>
                        </a:rPr>
                        <a:t>In-domain (SLR-43)</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1E2761"/>
                    </a:solidFill>
                  </a:tcPr>
                </a:tc>
                <a:tc>
                  <a:txBody>
                    <a:bodyPr/>
                    <a:lstStyle/>
                    <a:p>
                      <a:pPr algn="ctr" indent="0" marL="0">
                        <a:buNone/>
                      </a:pPr>
                      <a:r>
                        <a:rPr lang="en-US" sz="1500" b="1" dirty="0">
                          <a:solidFill>
                            <a:srgbClr val="FFFFFF"/>
                          </a:solidFill>
                        </a:rPr>
                        <a:t>Out-of-domain (SLR-54)</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1E2761"/>
                    </a:solidFill>
                  </a:tcPr>
                </a:tc>
              </a:tr>
              <a:tr h="685800">
                <a:tc>
                  <a:txBody>
                    <a:bodyPr/>
                    <a:lstStyle/>
                    <a:p>
                      <a:pPr algn="l" indent="0" marL="0">
                        <a:buNone/>
                      </a:pPr>
                      <a:r>
                        <a:rPr lang="en-US" sz="1500" dirty="0">
                          <a:solidFill>
                            <a:srgbClr val="16233F"/>
                          </a:solidFill>
                        </a:rPr>
                        <a:t>Fine-tuned, speaker-disjoint</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4F7FC"/>
                    </a:solidFill>
                  </a:tcPr>
                </a:tc>
                <a:tc>
                  <a:txBody>
                    <a:bodyPr/>
                    <a:lstStyle/>
                    <a:p>
                      <a:pPr algn="ctr" indent="0" marL="0">
                        <a:buNone/>
                      </a:pPr>
                      <a:r>
                        <a:rPr lang="en-US" sz="1500" dirty="0">
                          <a:solidFill>
                            <a:srgbClr val="16233F"/>
                          </a:solidFill>
                        </a:rPr>
                        <a:t>16.40% WER</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4F7FC"/>
                    </a:solidFill>
                  </a:tcPr>
                </a:tc>
                <a:tc>
                  <a:txBody>
                    <a:bodyPr/>
                    <a:lstStyle/>
                    <a:p>
                      <a:pPr algn="ctr" indent="0" marL="0">
                        <a:buNone/>
                      </a:pPr>
                      <a:r>
                        <a:rPr lang="en-US" sz="1500" dirty="0">
                          <a:solidFill>
                            <a:srgbClr val="16233F"/>
                          </a:solidFill>
                        </a:rPr>
                        <a:t>38.17% WER</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4F7FC"/>
                    </a:solidFill>
                  </a:tcPr>
                </a:tc>
              </a:tr>
              <a:tr h="685800">
                <a:tc>
                  <a:txBody>
                    <a:bodyPr/>
                    <a:lstStyle/>
                    <a:p>
                      <a:pPr algn="l" indent="0" marL="0">
                        <a:buNone/>
                      </a:pPr>
                      <a:r>
                        <a:rPr lang="en-US" sz="1800" b="1" dirty="0">
                          <a:solidFill>
                            <a:srgbClr val="3A2400"/>
                          </a:solidFill>
                        </a:rPr>
                        <a:t>Fine-tuned, leaky</a:t>
                      </a:r>
                      <a:endParaRPr lang="en-US" sz="18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BD9A5"/>
                    </a:solidFill>
                  </a:tcPr>
                </a:tc>
                <a:tc>
                  <a:txBody>
                    <a:bodyPr/>
                    <a:lstStyle/>
                    <a:p>
                      <a:pPr algn="ctr" indent="0" marL="0">
                        <a:buNone/>
                      </a:pPr>
                      <a:r>
                        <a:rPr lang="en-US" sz="1800" b="1" dirty="0">
                          <a:solidFill>
                            <a:srgbClr val="3A2400"/>
                          </a:solidFill>
                        </a:rPr>
                        <a:t>16.96% WER</a:t>
                      </a:r>
                      <a:endParaRPr lang="en-US" sz="18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BD9A5"/>
                    </a:solidFill>
                  </a:tcPr>
                </a:tc>
                <a:tc>
                  <a:txBody>
                    <a:bodyPr/>
                    <a:lstStyle/>
                    <a:p>
                      <a:pPr algn="ctr" indent="0" marL="0">
                        <a:buNone/>
                      </a:pPr>
                      <a:r>
                        <a:rPr lang="en-US" sz="1800" b="1" dirty="0">
                          <a:solidFill>
                            <a:srgbClr val="3A2400"/>
                          </a:solidFill>
                        </a:rPr>
                        <a:t>32.55% WER</a:t>
                      </a:r>
                      <a:endParaRPr lang="en-US" sz="18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BD9A5"/>
                    </a:solidFill>
                  </a:tcPr>
                </a:tc>
              </a:tr>
            </a:tbl>
          </a:graphicData>
        </a:graphic>
      </p:graphicFrame>
      <p:sp>
        <p:nvSpPr>
          <p:cNvPr id="5" name="Text 2"/>
          <p:cNvSpPr/>
          <p:nvPr/>
        </p:nvSpPr>
        <p:spPr>
          <a:xfrm>
            <a:off x="822960" y="4206240"/>
            <a:ext cx="10515600" cy="1280160"/>
          </a:xfrm>
          <a:prstGeom prst="rect">
            <a:avLst/>
          </a:prstGeom>
          <a:noFill/>
          <a:ln/>
        </p:spPr>
        <p:txBody>
          <a:bodyPr wrap="square" rtlCol="0" anchor="t"/>
          <a:lstStyle/>
          <a:p>
            <a:pPr indent="0" marL="0">
              <a:buNone/>
            </a:pPr>
            <a:r>
              <a:rPr lang="en-US" sz="1350" i="1" dirty="0">
                <a:solidFill>
                  <a:srgbClr val="5B6472"/>
                </a:solidFill>
                <a:latin typeface="Calibri" pitchFamily="34" charset="0"/>
                <a:ea typeface="Calibri" pitchFamily="34" charset="-122"/>
                <a:cs typeface="Calibri" pitchFamily="34" charset="-120"/>
              </a:rPr>
              <a:t>The leaky split scores 5.62 points better — not real improvement, but leakage: many of its "unseen" speakers were already seen in training. This confirms the project's speaker-disjoint methodology was the correct choice.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2800" b="1" dirty="0">
                <a:solidFill>
                  <a:srgbClr val="16233F"/>
                </a:solidFill>
                <a:latin typeface="Cambria" pitchFamily="34" charset="0"/>
                <a:ea typeface="Cambria" pitchFamily="34" charset="-122"/>
                <a:cs typeface="Cambria" pitchFamily="34" charset="-120"/>
              </a:rPr>
              <a:t>Deployment Efficiency Benchmark</a:t>
            </a:r>
            <a:endParaRPr lang="en-US" sz="2800" dirty="0"/>
          </a:p>
        </p:txBody>
      </p:sp>
      <p:sp>
        <p:nvSpPr>
          <p:cNvPr id="3" name="Text 1"/>
          <p:cNvSpPr/>
          <p:nvPr/>
        </p:nvSpPr>
        <p:spPr>
          <a:xfrm>
            <a:off x="548640" y="1024128"/>
            <a:ext cx="11064240" cy="457200"/>
          </a:xfrm>
          <a:prstGeom prst="rect">
            <a:avLst/>
          </a:prstGeom>
          <a:noFill/>
          <a:ln/>
        </p:spPr>
        <p:txBody>
          <a:bodyPr wrap="square" rtlCol="0" anchor="ctr"/>
          <a:lstStyle/>
          <a:p>
            <a:pPr indent="0" marL="0">
              <a:buNone/>
            </a:pPr>
            <a:r>
              <a:rPr lang="en-US" sz="1400" i="1" dirty="0">
                <a:solidFill>
                  <a:srgbClr val="5B6472"/>
                </a:solidFill>
                <a:latin typeface="Calibri" pitchFamily="34" charset="0"/>
                <a:ea typeface="Calibri" pitchFamily="34" charset="-122"/>
                <a:cs typeface="Calibri" pitchFamily="34" charset="-120"/>
              </a:rPr>
              <a:t>FP32 vs. dynamic INT8 quantization — a mixed result, reported honestly</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10515600" cy="2057400"/>
        </p:xfrm>
        <a:graphic>
          <a:graphicData uri="http://schemas.openxmlformats.org/drawingml/2006/table">
            <a:tbl>
              <a:tblPr/>
              <a:tblGrid>
                <a:gridCol w="2103120"/>
                <a:gridCol w="2103120"/>
                <a:gridCol w="2103120"/>
                <a:gridCol w="2103120"/>
                <a:gridCol w="2103120"/>
              </a:tblGrid>
              <a:tr h="685800">
                <a:tc>
                  <a:txBody>
                    <a:bodyPr/>
                    <a:lstStyle/>
                    <a:p>
                      <a:pPr algn="l" indent="0" marL="0">
                        <a:buNone/>
                      </a:pP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1E2761"/>
                    </a:solidFill>
                  </a:tcPr>
                </a:tc>
                <a:tc>
                  <a:txBody>
                    <a:bodyPr/>
                    <a:lstStyle/>
                    <a:p>
                      <a:pPr algn="ctr" indent="0" marL="0">
                        <a:buNone/>
                      </a:pPr>
                      <a:r>
                        <a:rPr lang="en-US" sz="1500" b="1" dirty="0">
                          <a:solidFill>
                            <a:srgbClr val="FFFFFF"/>
                          </a:solidFill>
                        </a:rPr>
                        <a:t>Model Size</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1E2761"/>
                    </a:solidFill>
                  </a:tcPr>
                </a:tc>
                <a:tc>
                  <a:txBody>
                    <a:bodyPr/>
                    <a:lstStyle/>
                    <a:p>
                      <a:pPr algn="ctr" indent="0" marL="0">
                        <a:buNone/>
                      </a:pPr>
                      <a:r>
                        <a:rPr lang="en-US" sz="1500" b="1" dirty="0">
                          <a:solidFill>
                            <a:srgbClr val="FFFFFF"/>
                          </a:solidFill>
                        </a:rPr>
                        <a:t>Mean Latency</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1E2761"/>
                    </a:solidFill>
                  </a:tcPr>
                </a:tc>
                <a:tc>
                  <a:txBody>
                    <a:bodyPr/>
                    <a:lstStyle/>
                    <a:p>
                      <a:pPr algn="ctr" indent="0" marL="0">
                        <a:buNone/>
                      </a:pPr>
                      <a:r>
                        <a:rPr lang="en-US" sz="1500" b="1" dirty="0">
                          <a:solidFill>
                            <a:srgbClr val="FFFFFF"/>
                          </a:solidFill>
                        </a:rPr>
                        <a:t>WER</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1E2761"/>
                    </a:solidFill>
                  </a:tcPr>
                </a:tc>
                <a:tc>
                  <a:txBody>
                    <a:bodyPr/>
                    <a:lstStyle/>
                    <a:p>
                      <a:pPr algn="ctr" indent="0" marL="0">
                        <a:buNone/>
                      </a:pPr>
                      <a:r>
                        <a:rPr lang="en-US" sz="1500" b="1" dirty="0">
                          <a:solidFill>
                            <a:srgbClr val="FFFFFF"/>
                          </a:solidFill>
                        </a:rPr>
                        <a:t>CER</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1E2761"/>
                    </a:solidFill>
                  </a:tcPr>
                </a:tc>
              </a:tr>
              <a:tr h="685800">
                <a:tc>
                  <a:txBody>
                    <a:bodyPr/>
                    <a:lstStyle/>
                    <a:p>
                      <a:pPr algn="l" indent="0" marL="0">
                        <a:buNone/>
                      </a:pPr>
                      <a:r>
                        <a:rPr lang="en-US" sz="1500" dirty="0">
                          <a:solidFill>
                            <a:srgbClr val="16233F"/>
                          </a:solidFill>
                        </a:rPr>
                        <a:t>FP32</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4F7FC"/>
                    </a:solidFill>
                  </a:tcPr>
                </a:tc>
                <a:tc>
                  <a:txBody>
                    <a:bodyPr/>
                    <a:lstStyle/>
                    <a:p>
                      <a:pPr algn="ctr" indent="0" marL="0">
                        <a:buNone/>
                      </a:pPr>
                      <a:r>
                        <a:rPr lang="en-US" sz="1500" dirty="0">
                          <a:solidFill>
                            <a:srgbClr val="16233F"/>
                          </a:solidFill>
                        </a:rPr>
                        <a:t>1,203.6 MB</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4F7FC"/>
                    </a:solidFill>
                  </a:tcPr>
                </a:tc>
                <a:tc>
                  <a:txBody>
                    <a:bodyPr/>
                    <a:lstStyle/>
                    <a:p>
                      <a:pPr algn="ctr" indent="0" marL="0">
                        <a:buNone/>
                      </a:pPr>
                      <a:r>
                        <a:rPr lang="en-US" sz="1500" dirty="0">
                          <a:solidFill>
                            <a:srgbClr val="16233F"/>
                          </a:solidFill>
                        </a:rPr>
                        <a:t>204.7 ms</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4F7FC"/>
                    </a:solidFill>
                  </a:tcPr>
                </a:tc>
                <a:tc>
                  <a:txBody>
                    <a:bodyPr/>
                    <a:lstStyle/>
                    <a:p>
                      <a:pPr algn="ctr" indent="0" marL="0">
                        <a:buNone/>
                      </a:pPr>
                      <a:r>
                        <a:rPr lang="en-US" sz="1500" dirty="0">
                          <a:solidFill>
                            <a:srgbClr val="16233F"/>
                          </a:solidFill>
                        </a:rPr>
                        <a:t>35.81%</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4F7FC"/>
                    </a:solidFill>
                  </a:tcPr>
                </a:tc>
                <a:tc>
                  <a:txBody>
                    <a:bodyPr/>
                    <a:lstStyle/>
                    <a:p>
                      <a:pPr algn="ctr" indent="0" marL="0">
                        <a:buNone/>
                      </a:pPr>
                      <a:r>
                        <a:rPr lang="en-US" sz="1500" dirty="0">
                          <a:solidFill>
                            <a:srgbClr val="16233F"/>
                          </a:solidFill>
                        </a:rPr>
                        <a:t>7.17%</a:t>
                      </a:r>
                      <a:endParaRPr lang="en-US" sz="15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4F7FC"/>
                    </a:solidFill>
                  </a:tcPr>
                </a:tc>
              </a:tr>
              <a:tr h="685800">
                <a:tc>
                  <a:txBody>
                    <a:bodyPr/>
                    <a:lstStyle/>
                    <a:p>
                      <a:pPr algn="l" indent="0" marL="0">
                        <a:buNone/>
                      </a:pPr>
                      <a:r>
                        <a:rPr lang="en-US" sz="1800" b="1" dirty="0">
                          <a:solidFill>
                            <a:srgbClr val="3A2400"/>
                          </a:solidFill>
                        </a:rPr>
                        <a:t>Dynamic INT8</a:t>
                      </a:r>
                      <a:endParaRPr lang="en-US" sz="18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BD9A5"/>
                    </a:solidFill>
                  </a:tcPr>
                </a:tc>
                <a:tc>
                  <a:txBody>
                    <a:bodyPr/>
                    <a:lstStyle/>
                    <a:p>
                      <a:pPr algn="ctr" indent="0" marL="0">
                        <a:buNone/>
                      </a:pPr>
                      <a:r>
                        <a:rPr lang="en-US" sz="1800" b="1" dirty="0">
                          <a:solidFill>
                            <a:srgbClr val="3A2400"/>
                          </a:solidFill>
                        </a:rPr>
                        <a:t>48.5 MB</a:t>
                      </a:r>
                      <a:endParaRPr lang="en-US" sz="18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BD9A5"/>
                    </a:solidFill>
                  </a:tcPr>
                </a:tc>
                <a:tc>
                  <a:txBody>
                    <a:bodyPr/>
                    <a:lstStyle/>
                    <a:p>
                      <a:pPr algn="ctr" indent="0" marL="0">
                        <a:buNone/>
                      </a:pPr>
                      <a:r>
                        <a:rPr lang="en-US" sz="1800" b="1" dirty="0">
                          <a:solidFill>
                            <a:srgbClr val="3A2400"/>
                          </a:solidFill>
                        </a:rPr>
                        <a:t>335.2 ms</a:t>
                      </a:r>
                      <a:endParaRPr lang="en-US" sz="18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BD9A5"/>
                    </a:solidFill>
                  </a:tcPr>
                </a:tc>
                <a:tc>
                  <a:txBody>
                    <a:bodyPr/>
                    <a:lstStyle/>
                    <a:p>
                      <a:pPr algn="ctr" indent="0" marL="0">
                        <a:buNone/>
                      </a:pPr>
                      <a:r>
                        <a:rPr lang="en-US" sz="1800" b="1" dirty="0">
                          <a:solidFill>
                            <a:srgbClr val="3A2400"/>
                          </a:solidFill>
                        </a:rPr>
                        <a:t>36.49%</a:t>
                      </a:r>
                      <a:endParaRPr lang="en-US" sz="18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BD9A5"/>
                    </a:solidFill>
                  </a:tcPr>
                </a:tc>
                <a:tc>
                  <a:txBody>
                    <a:bodyPr/>
                    <a:lstStyle/>
                    <a:p>
                      <a:pPr algn="ctr" indent="0" marL="0">
                        <a:buNone/>
                      </a:pPr>
                      <a:r>
                        <a:rPr lang="en-US" sz="1800" b="1" dirty="0">
                          <a:solidFill>
                            <a:srgbClr val="3A2400"/>
                          </a:solidFill>
                        </a:rPr>
                        <a:t>7.49%</a:t>
                      </a:r>
                      <a:endParaRPr lang="en-US" sz="1800" dirty="0"/>
                    </a:p>
                  </a:txBody>
                  <a:tcPr marL="127000" marR="127000" marT="76200" marB="76200" anchor="ctr">
                    <a:lnL w="12700" cap="flat" cmpd="sng" algn="ctr">
                      <a:solidFill>
                        <a:srgbClr val="DCE3EE"/>
                      </a:solidFill>
                      <a:prstDash val="solid"/>
                      <a:round/>
                      <a:headEnd type="none" w="med" len="med"/>
                      <a:tailEnd type="none" w="med" len="med"/>
                    </a:lnL>
                    <a:lnR w="12700" cap="flat" cmpd="sng" algn="ctr">
                      <a:solidFill>
                        <a:srgbClr val="DCE3EE"/>
                      </a:solidFill>
                      <a:prstDash val="solid"/>
                      <a:round/>
                      <a:headEnd type="none" w="med" len="med"/>
                      <a:tailEnd type="none" w="med" len="med"/>
                    </a:lnR>
                    <a:lnT w="12700" cap="flat" cmpd="sng" algn="ctr">
                      <a:solidFill>
                        <a:srgbClr val="DCE3EE"/>
                      </a:solidFill>
                      <a:prstDash val="solid"/>
                      <a:round/>
                      <a:headEnd type="none" w="med" len="med"/>
                      <a:tailEnd type="none" w="med" len="med"/>
                    </a:lnT>
                    <a:lnB w="12700" cap="flat" cmpd="sng" algn="ctr">
                      <a:solidFill>
                        <a:srgbClr val="DCE3EE"/>
                      </a:solidFill>
                      <a:prstDash val="solid"/>
                      <a:round/>
                      <a:headEnd type="none" w="med" len="med"/>
                      <a:tailEnd type="none" w="med" len="med"/>
                    </a:lnB>
                    <a:solidFill>
                      <a:srgbClr val="FBD9A5"/>
                    </a:solidFill>
                  </a:tcPr>
                </a:tc>
              </a:tr>
            </a:tbl>
          </a:graphicData>
        </a:graphic>
      </p:graphicFrame>
      <p:sp>
        <p:nvSpPr>
          <p:cNvPr id="5" name="Text 2"/>
          <p:cNvSpPr/>
          <p:nvPr/>
        </p:nvSpPr>
        <p:spPr>
          <a:xfrm>
            <a:off x="822960" y="4206240"/>
            <a:ext cx="10515600" cy="1280160"/>
          </a:xfrm>
          <a:prstGeom prst="rect">
            <a:avLst/>
          </a:prstGeom>
          <a:noFill/>
          <a:ln/>
        </p:spPr>
        <p:txBody>
          <a:bodyPr wrap="square" rtlCol="0" anchor="t"/>
          <a:lstStyle/>
          <a:p>
            <a:pPr indent="0" marL="0">
              <a:buNone/>
            </a:pPr>
            <a:r>
              <a:rPr lang="en-US" sz="1350" i="1" dirty="0">
                <a:solidFill>
                  <a:srgbClr val="5B6472"/>
                </a:solidFill>
                <a:latin typeface="Calibri" pitchFamily="34" charset="0"/>
                <a:ea typeface="Calibri" pitchFamily="34" charset="-122"/>
                <a:cs typeface="Calibri" pitchFamily="34" charset="-120"/>
              </a:rPr>
              <a:t>96.0% size reduction, but 1.64× slower — not faster — on this Apple Silicon hardware. Quantization here is a storage optimisation, not a latency one.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502920"/>
            <a:ext cx="10698480" cy="73152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3" name="Shape 1"/>
          <p:cNvSpPr/>
          <p:nvPr/>
        </p:nvSpPr>
        <p:spPr>
          <a:xfrm>
            <a:off x="731520" y="1463040"/>
            <a:ext cx="5166360" cy="2286000"/>
          </a:xfrm>
          <a:prstGeom prst="roundRect">
            <a:avLst>
              <a:gd name="adj" fmla="val 4000"/>
            </a:avLst>
          </a:prstGeom>
          <a:solidFill>
            <a:srgbClr val="273580"/>
          </a:solidFill>
          <a:ln w="12700">
            <a:solidFill>
              <a:srgbClr val="273580"/>
            </a:solidFill>
            <a:prstDash val="solid"/>
          </a:ln>
        </p:spPr>
      </p:sp>
      <p:sp>
        <p:nvSpPr>
          <p:cNvPr id="4" name="Text 2"/>
          <p:cNvSpPr/>
          <p:nvPr/>
        </p:nvSpPr>
        <p:spPr>
          <a:xfrm>
            <a:off x="1005840" y="1691640"/>
            <a:ext cx="4663440" cy="1920240"/>
          </a:xfrm>
          <a:prstGeom prst="rect">
            <a:avLst/>
          </a:prstGeom>
          <a:noFill/>
          <a:ln/>
        </p:spPr>
        <p:txBody>
          <a:bodyPr wrap="square" rtlCol="0" anchor="t"/>
          <a:lstStyle/>
          <a:p>
            <a:pPr indent="0" marL="0">
              <a:buNone/>
            </a:pPr>
            <a:r>
              <a:rPr lang="en-US" sz="1600" b="1" dirty="0">
                <a:solidFill>
                  <a:srgbClr val="CADCFC"/>
                </a:solidFill>
                <a:latin typeface="Calibri" pitchFamily="34" charset="0"/>
                <a:ea typeface="Calibri" pitchFamily="34" charset="-122"/>
                <a:cs typeface="Calibri" pitchFamily="34" charset="-120"/>
              </a:rPr>
              <a:t>RQ1 — No.
</a:t>
            </a:r>
            <a:endParaRPr lang="en-US" sz="1600" dirty="0"/>
          </a:p>
          <a:p>
            <a:pPr indent="0" marL="0">
              <a:buNone/>
            </a:pPr>
            <a:r>
              <a:rPr lang="en-US" sz="1300" dirty="0">
                <a:solidFill>
                  <a:srgbClr val="FFFFFF"/>
                </a:solidFill>
                <a:latin typeface="Calibri" pitchFamily="34" charset="0"/>
                <a:ea typeface="Calibri" pitchFamily="34" charset="-122"/>
                <a:cs typeface="Calibri" pitchFamily="34" charset="-120"/>
              </a:rPr>
              <a:t>5.97% claim does not generalise:
</a:t>
            </a:r>
            <a:endParaRPr lang="en-US" sz="1600" dirty="0"/>
          </a:p>
          <a:p>
            <a:pPr indent="0" marL="0">
              <a:buNone/>
            </a:pPr>
            <a:r>
              <a:rPr lang="en-US" sz="2200" b="1" dirty="0">
                <a:solidFill>
                  <a:srgbClr val="FBD9A5"/>
                </a:solidFill>
                <a:latin typeface="Calibri" pitchFamily="34" charset="0"/>
                <a:ea typeface="Calibri" pitchFamily="34" charset="-122"/>
                <a:cs typeface="Calibri" pitchFamily="34" charset="-120"/>
              </a:rPr>
              <a:t>62.30% WER</a:t>
            </a:r>
            <a:pPr indent="0" marL="0">
              <a:buNone/>
            </a:pPr>
            <a:r>
              <a:rPr lang="en-US" sz="1300" dirty="0">
                <a:solidFill>
                  <a:srgbClr val="FFFFFF"/>
                </a:solidFill>
                <a:latin typeface="Calibri" pitchFamily="34" charset="0"/>
                <a:ea typeface="Calibri" pitchFamily="34" charset="-122"/>
                <a:cs typeface="Calibri" pitchFamily="34" charset="-120"/>
              </a:rPr>
              <a:t> on diverse speech</a:t>
            </a:r>
            <a:endParaRPr lang="en-US" sz="1600" dirty="0"/>
          </a:p>
        </p:txBody>
      </p:sp>
      <p:sp>
        <p:nvSpPr>
          <p:cNvPr id="5" name="Shape 3"/>
          <p:cNvSpPr/>
          <p:nvPr/>
        </p:nvSpPr>
        <p:spPr>
          <a:xfrm>
            <a:off x="6263640" y="1463040"/>
            <a:ext cx="5166360" cy="2286000"/>
          </a:xfrm>
          <a:prstGeom prst="roundRect">
            <a:avLst>
              <a:gd name="adj" fmla="val 4000"/>
            </a:avLst>
          </a:prstGeom>
          <a:solidFill>
            <a:srgbClr val="273580"/>
          </a:solidFill>
          <a:ln w="12700">
            <a:solidFill>
              <a:srgbClr val="273580"/>
            </a:solidFill>
            <a:prstDash val="solid"/>
          </a:ln>
        </p:spPr>
      </p:sp>
      <p:sp>
        <p:nvSpPr>
          <p:cNvPr id="6" name="Text 4"/>
          <p:cNvSpPr/>
          <p:nvPr/>
        </p:nvSpPr>
        <p:spPr>
          <a:xfrm>
            <a:off x="6537960" y="1691640"/>
            <a:ext cx="4663440" cy="1920240"/>
          </a:xfrm>
          <a:prstGeom prst="rect">
            <a:avLst/>
          </a:prstGeom>
          <a:noFill/>
          <a:ln/>
        </p:spPr>
        <p:txBody>
          <a:bodyPr wrap="square" rtlCol="0" anchor="t"/>
          <a:lstStyle/>
          <a:p>
            <a:pPr indent="0" marL="0">
              <a:buNone/>
            </a:pPr>
            <a:r>
              <a:rPr lang="en-US" sz="1600" b="1" dirty="0">
                <a:solidFill>
                  <a:srgbClr val="CADCFC"/>
                </a:solidFill>
                <a:latin typeface="Calibri" pitchFamily="34" charset="0"/>
                <a:ea typeface="Calibri" pitchFamily="34" charset="-122"/>
                <a:cs typeface="Calibri" pitchFamily="34" charset="-120"/>
              </a:rPr>
              <a:t>RQ2 — Yes, genuinely.
</a:t>
            </a:r>
            <a:endParaRPr lang="en-US" sz="1600" dirty="0"/>
          </a:p>
          <a:p>
            <a:pPr indent="0" marL="0">
              <a:buNone/>
            </a:pPr>
            <a:r>
              <a:rPr lang="en-US" sz="1300" dirty="0">
                <a:solidFill>
                  <a:srgbClr val="FFFFFF"/>
                </a:solidFill>
                <a:latin typeface="Calibri" pitchFamily="34" charset="0"/>
                <a:ea typeface="Calibri" pitchFamily="34" charset="-122"/>
                <a:cs typeface="Calibri" pitchFamily="34" charset="-120"/>
              </a:rPr>
              <a:t>Fine-tuning repairs the gap to
</a:t>
            </a:r>
            <a:endParaRPr lang="en-US" sz="1600" dirty="0"/>
          </a:p>
          <a:p>
            <a:pPr indent="0" marL="0">
              <a:buNone/>
            </a:pPr>
            <a:r>
              <a:rPr lang="en-US" sz="2200" b="1" dirty="0">
                <a:solidFill>
                  <a:srgbClr val="FBD9A5"/>
                </a:solidFill>
                <a:latin typeface="Calibri" pitchFamily="34" charset="0"/>
                <a:ea typeface="Calibri" pitchFamily="34" charset="-122"/>
                <a:cs typeface="Calibri" pitchFamily="34" charset="-120"/>
              </a:rPr>
              <a:t>38.17% WER</a:t>
            </a:r>
            <a:pPr indent="0" marL="0">
              <a:buNone/>
            </a:pPr>
            <a:r>
              <a:rPr lang="en-US" sz="1300" dirty="0">
                <a:solidFill>
                  <a:srgbClr val="FFFFFF"/>
                </a:solidFill>
                <a:latin typeface="Calibri" pitchFamily="34" charset="0"/>
                <a:ea typeface="Calibri" pitchFamily="34" charset="-122"/>
                <a:cs typeface="Calibri" pitchFamily="34" charset="-120"/>
              </a:rPr>
              <a:t> — confirmed genuine by the leakage ablation</a:t>
            </a:r>
            <a:endParaRPr lang="en-US" sz="1600" dirty="0"/>
          </a:p>
        </p:txBody>
      </p:sp>
      <p:sp>
        <p:nvSpPr>
          <p:cNvPr id="7" name="Text 5"/>
          <p:cNvSpPr/>
          <p:nvPr/>
        </p:nvSpPr>
        <p:spPr>
          <a:xfrm>
            <a:off x="731520" y="3977640"/>
            <a:ext cx="10698480" cy="640080"/>
          </a:xfrm>
          <a:prstGeom prst="rect">
            <a:avLst/>
          </a:prstGeom>
          <a:noFill/>
          <a:ln/>
        </p:spPr>
        <p:txBody>
          <a:bodyPr wrap="square" rtlCol="0" anchor="ctr"/>
          <a:lstStyle/>
          <a:p>
            <a:pPr algn="ctr" indent="0" marL="0">
              <a:buNone/>
            </a:pPr>
            <a:r>
              <a:rPr lang="en-US" sz="1500" i="1" dirty="0">
                <a:solidFill>
                  <a:srgbClr val="CADCFC"/>
                </a:solidFill>
                <a:latin typeface="Calibri" pitchFamily="34" charset="0"/>
                <a:ea typeface="Calibri" pitchFamily="34" charset="-122"/>
                <a:cs typeface="Calibri" pitchFamily="34" charset="-120"/>
              </a:rPr>
              <a:t>An open, reproducible Nepali ASR audit-and-repair case study, with an honestly reported efficiency benchmark.</a:t>
            </a:r>
            <a:endParaRPr lang="en-US" sz="1500" dirty="0"/>
          </a:p>
        </p:txBody>
      </p:sp>
      <p:sp>
        <p:nvSpPr>
          <p:cNvPr id="8" name="Shape 6"/>
          <p:cNvSpPr/>
          <p:nvPr/>
        </p:nvSpPr>
        <p:spPr>
          <a:xfrm>
            <a:off x="2423160" y="4892040"/>
            <a:ext cx="7315200" cy="1051560"/>
          </a:xfrm>
          <a:prstGeom prst="roundRect">
            <a:avLst>
              <a:gd name="adj" fmla="val 13043"/>
            </a:avLst>
          </a:prstGeom>
          <a:solidFill>
            <a:srgbClr val="FFFFFF"/>
          </a:solidFill>
          <a:ln w="12700">
            <a:solidFill>
              <a:srgbClr val="FFFFFF"/>
            </a:solidFill>
            <a:prstDash val="solid"/>
          </a:ln>
        </p:spPr>
      </p:sp>
      <p:sp>
        <p:nvSpPr>
          <p:cNvPr id="9" name="Text 7"/>
          <p:cNvSpPr/>
          <p:nvPr/>
        </p:nvSpPr>
        <p:spPr>
          <a:xfrm>
            <a:off x="2423160" y="5010912"/>
            <a:ext cx="7315200" cy="320040"/>
          </a:xfrm>
          <a:prstGeom prst="rect">
            <a:avLst/>
          </a:prstGeom>
          <a:noFill/>
          <a:ln/>
        </p:spPr>
        <p:txBody>
          <a:bodyPr wrap="square" rtlCol="0" anchor="ctr"/>
          <a:lstStyle/>
          <a:p>
            <a:pPr algn="ctr" indent="0" marL="0">
              <a:buNone/>
            </a:pPr>
            <a:r>
              <a:rPr lang="en-US" sz="1200" dirty="0">
                <a:solidFill>
                  <a:srgbClr val="5B6472"/>
                </a:solidFill>
                <a:latin typeface="Calibri" pitchFamily="34" charset="0"/>
                <a:ea typeface="Calibri" pitchFamily="34" charset="-122"/>
                <a:cs typeface="Calibri" pitchFamily="34" charset="-120"/>
              </a:rPr>
              <a:t>Code, MLflow logs, data manifests &amp; full report:</a:t>
            </a:r>
            <a:endParaRPr lang="en-US" sz="1200" dirty="0"/>
          </a:p>
        </p:txBody>
      </p:sp>
      <p:sp>
        <p:nvSpPr>
          <p:cNvPr id="10" name="Text 8"/>
          <p:cNvSpPr/>
          <p:nvPr/>
        </p:nvSpPr>
        <p:spPr>
          <a:xfrm>
            <a:off x="2423160" y="5303520"/>
            <a:ext cx="7315200" cy="502920"/>
          </a:xfrm>
          <a:prstGeom prst="rect">
            <a:avLst/>
          </a:prstGeom>
          <a:noFill/>
          <a:ln/>
        </p:spPr>
        <p:txBody>
          <a:bodyPr wrap="square" rtlCol="0" anchor="ctr"/>
          <a:lstStyle/>
          <a:p>
            <a:pPr algn="ctr" indent="0" marL="0">
              <a:buNone/>
            </a:pPr>
            <a:r>
              <a:rPr lang="en-US" sz="2200" b="1" dirty="0">
                <a:solidFill>
                  <a:srgbClr val="1E2761"/>
                </a:solidFill>
                <a:latin typeface="Courier New" pitchFamily="34" charset="0"/>
                <a:ea typeface="Courier New" pitchFamily="34" charset="-122"/>
                <a:cs typeface="Courier New" pitchFamily="34" charset="-120"/>
              </a:rPr>
              <a:t>github.com/Rbimochan/NSTT-Lite</a:t>
            </a:r>
            <a:endParaRPr lang="en-US" sz="2200" dirty="0"/>
          </a:p>
        </p:txBody>
      </p:sp>
      <p:sp>
        <p:nvSpPr>
          <p:cNvPr id="11" name="Text 9"/>
          <p:cNvSpPr/>
          <p:nvPr/>
        </p:nvSpPr>
        <p:spPr>
          <a:xfrm>
            <a:off x="731520" y="6172200"/>
            <a:ext cx="10698480" cy="457200"/>
          </a:xfrm>
          <a:prstGeom prst="rect">
            <a:avLst/>
          </a:prstGeom>
          <a:noFill/>
          <a:ln/>
        </p:spPr>
        <p:txBody>
          <a:bodyPr wrap="square"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Thank you for watching.</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Softwarica College / Coventry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Auditing and Repairing a Published Nepali ASR Model</dc:title>
  <dc:subject>PptxGenJS Presentation</dc:subject>
  <dc:creator>Bimochan Raj Kunwar</dc:creator>
  <cp:lastModifiedBy>Bimochan Raj Kunwar</cp:lastModifiedBy>
  <cp:revision>1</cp:revision>
  <dcterms:created xsi:type="dcterms:W3CDTF">2026-07-29T07:53:29Z</dcterms:created>
  <dcterms:modified xsi:type="dcterms:W3CDTF">2026-07-29T07:53:29Z</dcterms:modified>
</cp:coreProperties>
</file>